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2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063240"/>
            <a:ext cx="32004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2C39A"/>
                </a:solidFill>
              </a:rPr>
              <a:t>ACTUALIZACIÓN DE 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NORMA ISO 9001:2015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7F8"/>
                </a:solidFill>
              </a:rPr>
              <a:t>Sistema de Gestión de la Calidad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B78"/>
                </a:solidFill>
              </a:rPr>
              <a:t>Principales cambios, nuevos requisitos y enfoque estratégico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CONTEXTO HISTÓRICO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874519"/>
            <a:ext cx="7315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371600" cy="45720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1987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1371600" cy="164592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82880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ISO 9001
Primera edición
Enfoque en
procedimientos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74519"/>
            <a:ext cx="7315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11679" y="1234440"/>
            <a:ext cx="1371600" cy="45720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79" y="1261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1994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79" y="1783080"/>
            <a:ext cx="1371600" cy="164592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399" y="182880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ISO 9001:1994
Revisión menor,
20 elementos
requisitos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874519"/>
            <a:ext cx="7315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1234440"/>
            <a:ext cx="13716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261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783080"/>
            <a:ext cx="1371600" cy="164592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82880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ISO 9001:2000
Giro hacia procesos
y satisfacción
del cliente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874519"/>
            <a:ext cx="73152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399" y="1234440"/>
            <a:ext cx="1371600" cy="45720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399" y="1261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2008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399" y="1783080"/>
            <a:ext cx="1371600" cy="164592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19" y="182880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ISO 9001:2008
Clarificaciones
sin cambios
sustanciales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59" y="1234440"/>
            <a:ext cx="13716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12618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2015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1783080"/>
            <a:ext cx="1371600" cy="1645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79" y="182880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ISO 9001:2015
Cambio estructural
High Level
Structure (HLS)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La versión 2015 representa el cambio más significativo en la historia de la norma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HIGH LEVEL STRUCTURE (HLS) — ANEXO SL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4058"/>
                </a:solidFill>
              </a:rPr>
              <a:t>¿Qué es el HLS?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▸"/>
              <a:buClr>
                <a:srgbClr val="028090"/>
              </a:buClr>
              <a:spcAft>
                <a:spcPts val="400"/>
              </a:spcAft>
            </a:pPr>
            <a:r>
              <a:rPr sz="1300">
                <a:solidFill>
                  <a:srgbClr val="024058"/>
                </a:solidFill>
              </a:rPr>
              <a:t>Estructura de alto nivel para todas las normas ISO de sistemas de gestión</a:t>
            </a:r>
          </a:p>
          <a:p>
            <a:pPr>
              <a:buChar char="▸"/>
              <a:buClr>
                <a:srgbClr val="028090"/>
              </a:buClr>
              <a:spcAft>
                <a:spcPts val="400"/>
              </a:spcAft>
            </a:pPr>
            <a:r>
              <a:rPr sz="1300">
                <a:solidFill>
                  <a:srgbClr val="024058"/>
                </a:solidFill>
              </a:rPr>
              <a:t>Permite integrar fácilmente múltiples normas (ISO 14001, ISO 45001, etc.)</a:t>
            </a:r>
          </a:p>
          <a:p>
            <a:pPr>
              <a:buChar char="▸"/>
              <a:buClr>
                <a:srgbClr val="028090"/>
              </a:buClr>
              <a:spcAft>
                <a:spcPts val="400"/>
              </a:spcAft>
            </a:pPr>
            <a:r>
              <a:rPr sz="1300">
                <a:solidFill>
                  <a:srgbClr val="024058"/>
                </a:solidFill>
              </a:rPr>
              <a:t>10 cláusulas comunes con texto idéntico en todas las normas</a:t>
            </a:r>
          </a:p>
          <a:p>
            <a:pPr>
              <a:buChar char="▸"/>
              <a:buClr>
                <a:srgbClr val="028090"/>
              </a:buClr>
              <a:spcAft>
                <a:spcPts val="400"/>
              </a:spcAft>
            </a:pPr>
            <a:r>
              <a:rPr sz="1300">
                <a:solidFill>
                  <a:srgbClr val="024058"/>
                </a:solidFill>
              </a:rPr>
              <a:t>Facilita los Sistemas de Gestión Integrados (SGI)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143000"/>
            <a:ext cx="2103120" cy="59436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188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Alcance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143000"/>
            <a:ext cx="2103120" cy="59436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85432" y="1188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 Referencias normativas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892807"/>
            <a:ext cx="2103120" cy="59436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3852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 Términos y definiciones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1892807"/>
            <a:ext cx="21031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1938527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Contexto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42615"/>
            <a:ext cx="21031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2688335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Liderazgo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2642615"/>
            <a:ext cx="21031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2" y="2688335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6. Planificación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392424"/>
            <a:ext cx="21031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43814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7. Apoyo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3392424"/>
            <a:ext cx="21031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343814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8. Operación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142231"/>
            <a:ext cx="21031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418795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9. Evaluación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4142231"/>
            <a:ext cx="210312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2" y="4187951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10. Mejora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PRINCIPALES CAMBIOS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2834640" cy="1554480"/>
          </a:xfrm>
          <a:prstGeom prst="rect">
            <a:avLst/>
          </a:prstGeom>
          <a:solidFill>
            <a:srgbClr val="04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612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Pensamiento
Basado en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645919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EE"/>
                </a:solidFill>
              </a:rPr>
              <a:t>Identificar, analizar y tratar riesgos y oportunidades en todos los procesos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051560"/>
            <a:ext cx="2834640" cy="1554480"/>
          </a:xfrm>
          <a:prstGeom prst="rect">
            <a:avLst/>
          </a:prstGeom>
          <a:solidFill>
            <a:srgbClr val="04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10515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1612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Contexto de la
Organización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645919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EE"/>
                </a:solidFill>
              </a:rPr>
              <a:t>Comprender factores internos/externos y partes interesadas pertinentes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51560"/>
            <a:ext cx="2834640" cy="1554480"/>
          </a:xfrm>
          <a:prstGeom prst="rect">
            <a:avLst/>
          </a:prstGeom>
          <a:solidFill>
            <a:srgbClr val="04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5156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16128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Liderazgo y
Compromiso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1645919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EE"/>
                </a:solidFill>
              </a:rPr>
              <a:t>Alta dirección con rol activo, no solo representante de la dirección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788920"/>
            <a:ext cx="2834640" cy="1554480"/>
          </a:xfrm>
          <a:prstGeom prst="rect">
            <a:avLst/>
          </a:prstGeom>
          <a:solidFill>
            <a:srgbClr val="04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278892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28986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Gestión del
Conocimiento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383279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EE"/>
                </a:solidFill>
              </a:rPr>
              <a:t>El conocimiento organizacional como recurso a gestionar y proteger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788920"/>
            <a:ext cx="2834640" cy="1554480"/>
          </a:xfrm>
          <a:prstGeom prst="rect">
            <a:avLst/>
          </a:prstGeom>
          <a:solidFill>
            <a:srgbClr val="04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278892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8986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Control de
Proveedores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3383279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EE"/>
                </a:solidFill>
              </a:rPr>
              <a:t>Enfoque ampliado: bienes, servicios y procesos externalizados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788920"/>
            <a:ext cx="2834640" cy="1554480"/>
          </a:xfrm>
          <a:prstGeom prst="rect">
            <a:avLst/>
          </a:prstGeom>
          <a:solidFill>
            <a:srgbClr val="04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788920"/>
            <a:ext cx="283464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289864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Información
Documentada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3383279"/>
            <a:ext cx="26334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EE"/>
                </a:solidFill>
              </a:rPr>
              <a:t>Mayor flexibilidad: reemplaza 'documentos' y 'registros'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ENFOQUE A PROCESOS Y CICLO PHVA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143000"/>
            <a:ext cx="1645920" cy="1645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090"/>
                </a:solidFill>
              </a:rPr>
              <a:t>PLANIFICAR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78"/>
                </a:solidFill>
              </a:rPr>
              <a:t>Cláusulas 4, 5, 6, 7
Contexto, Liderazgo,
Planificación, Apoyo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1408" y="1828800"/>
            <a:ext cx="438912" cy="9144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60320" y="1143000"/>
            <a:ext cx="1645920" cy="1645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118872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C39A"/>
                </a:solidFill>
              </a:rPr>
              <a:t>HACER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78"/>
                </a:solidFill>
              </a:rPr>
              <a:t>Cláusula 8
Operación y
Control de procesos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828800"/>
            <a:ext cx="438912" cy="9144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63440" y="1143000"/>
            <a:ext cx="1645920" cy="1645920"/>
          </a:xfrm>
          <a:prstGeom prst="ellipse">
            <a:avLst/>
          </a:prstGeom>
          <a:solidFill>
            <a:srgbClr val="0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118872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806A"/>
                </a:solidFill>
              </a:rPr>
              <a:t>VERIFICAR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78"/>
                </a:solidFill>
              </a:rPr>
              <a:t>Cláusula 9
Seguimiento, medición,
análisis y evaluación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7648" y="1828800"/>
            <a:ext cx="438912" cy="91440"/>
          </a:xfrm>
          <a:prstGeom prst="rect">
            <a:avLst/>
          </a:prstGeom>
          <a:solidFill>
            <a:srgbClr val="55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6559" y="1143000"/>
            <a:ext cx="1645920" cy="1645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79" y="1188720"/>
            <a:ext cx="1554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</a:rPr>
              <a:t>ACTUAR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2461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B78"/>
                </a:solidFill>
              </a:rPr>
              <a:t>Cláusula 10
No conformidad,
Mejora continua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4805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B78"/>
                </a:solidFill>
              </a:rPr>
              <a:t>El ciclo PHVA ahora permea toda la estructura de la norma, integrando riesgo y contexto organizacional.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PENSAMIENTO BASADO EN RIESGO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8"/>
                </a:solidFill>
              </a:rPr>
              <a:t>Diferencias clave con versiones anteriores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920240" cy="50292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12848" y="1554480"/>
            <a:ext cx="192024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ISO 9001:2008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600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ISO 9001:2015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67128"/>
            <a:ext cx="1920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12848" y="2167128"/>
            <a:ext cx="1920240" cy="548640"/>
          </a:xfrm>
          <a:prstGeom prst="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2037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Acciones preventivas
separadas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0370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Integrado en toda
la planificación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79776"/>
            <a:ext cx="1920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2848" y="2779776"/>
            <a:ext cx="1920240" cy="548640"/>
          </a:xfrm>
          <a:prstGeom prst="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8163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Enfoque en
no conformidades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8163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Identificar riesgos
Y oportunidades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92424"/>
            <a:ext cx="1920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12848" y="3392424"/>
            <a:ext cx="1920240" cy="548640"/>
          </a:xfrm>
          <a:prstGeom prst="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4290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Manual de calidad
obligatorio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429000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Información
documentada flexible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05072"/>
            <a:ext cx="192024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12848" y="4005072"/>
            <a:ext cx="1920240" cy="548640"/>
          </a:xfrm>
          <a:prstGeom prst="rect">
            <a:avLst/>
          </a:prstGeom>
          <a:solidFill>
            <a:srgbClr val="E0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04164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Representante de
la dirección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404164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4058"/>
                </a:solidFill>
              </a:rPr>
              <a:t>Alta dirección
directamente responsable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8"/>
                </a:solidFill>
              </a:rPr>
              <a:t>Proceso de gestión del riesgo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1554480"/>
            <a:ext cx="457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8" y="1554480"/>
            <a:ext cx="3703320" cy="54864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12080" y="15727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IDENTIFICAR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81051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78"/>
                </a:solidFill>
              </a:rPr>
              <a:t>Riesgos y oportunidades del contexto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231136"/>
            <a:ext cx="457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2768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38928" y="2231136"/>
            <a:ext cx="3703320" cy="54864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22494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ANALIZAR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4871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78"/>
                </a:solidFill>
              </a:rPr>
              <a:t>Probabilidad e impacto potencial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2907791"/>
            <a:ext cx="457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295351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38928" y="2907791"/>
            <a:ext cx="3703320" cy="54864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12080" y="292607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EVALUAR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31638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78"/>
                </a:solidFill>
              </a:rPr>
              <a:t>Priorizar según criterios definidos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3584448"/>
            <a:ext cx="457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63440" y="3630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38928" y="3584448"/>
            <a:ext cx="3703320" cy="54864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12080" y="36027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TRATAR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38404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78"/>
                </a:solidFill>
              </a:rPr>
              <a:t>Acciones para abordar riesgos/oportunidades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4261104"/>
            <a:ext cx="457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43068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8928" y="4261104"/>
            <a:ext cx="3703320" cy="548640"/>
          </a:xfrm>
          <a:prstGeom prst="rect">
            <a:avLst/>
          </a:prstGeom>
          <a:solidFill>
            <a:srgbClr val="E8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1208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</a:rPr>
              <a:t>MONITOREAR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2080" y="4517136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B78"/>
                </a:solidFill>
              </a:rPr>
              <a:t>Eficacia de las acciones implementadas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LIDERAZGO Y COMPROMISO DE LA ALTA DIRECCIÓN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2C39A"/>
                </a:solidFill>
              </a:rPr>
              <a:t>Cláusula 5 — Nuevas responsabilidades directivas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43200" cy="1508760"/>
          </a:xfrm>
          <a:prstGeom prst="rect">
            <a:avLst/>
          </a:prstGeom>
          <a:solidFill>
            <a:srgbClr val="03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0876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Rendir cuentas de
la eficacia del SGC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25880"/>
            <a:ext cx="2743200" cy="1508760"/>
          </a:xfrm>
          <a:prstGeom prst="rect">
            <a:avLst/>
          </a:prstGeom>
          <a:solidFill>
            <a:srgbClr val="03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32588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50876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Asegurar integración
de requisitos en
procesos del negocio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325880"/>
            <a:ext cx="2743200" cy="1508760"/>
          </a:xfrm>
          <a:prstGeom prst="rect">
            <a:avLst/>
          </a:prstGeom>
          <a:solidFill>
            <a:srgbClr val="03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2588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Promover el enfoque
based on riesgos
y oportunidades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2743200" cy="1508760"/>
          </a:xfrm>
          <a:prstGeom prst="rect">
            <a:avLst/>
          </a:prstGeom>
          <a:solidFill>
            <a:srgbClr val="03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01752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200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Comunicar la
importancia de
gestión eficaz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017520"/>
            <a:ext cx="2743200" cy="1508760"/>
          </a:xfrm>
          <a:prstGeom prst="rect">
            <a:avLst/>
          </a:prstGeom>
          <a:solidFill>
            <a:srgbClr val="03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0" y="301752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3200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Dirigir y apoyar
la mejora continua
del sistema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017520"/>
            <a:ext cx="2743200" cy="1508760"/>
          </a:xfrm>
          <a:prstGeom prst="rect">
            <a:avLst/>
          </a:prstGeom>
          <a:solidFill>
            <a:srgbClr val="035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017520"/>
            <a:ext cx="27432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200400"/>
            <a:ext cx="2514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Apoyar otros roles
para demostrar su
liderazgo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PROCESO DE TRANSICIÓN Y CERTIFICACIÓN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8"/>
                </a:solidFill>
              </a:rPr>
              <a:t>Pasos para la transición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0058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45336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GAP
ANÁLISIS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1508760"/>
            <a:ext cx="2880360" cy="594360"/>
          </a:xfrm>
          <a:prstGeom prst="rect">
            <a:avLst/>
          </a:prstGeom>
          <a:solidFill>
            <a:srgbClr val="F5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45336"/>
            <a:ext cx="2743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4058"/>
                </a:solidFill>
              </a:rPr>
              <a:t>Evaluar brechas entre
el SGC actual y
los nuevos requisitos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12848"/>
            <a:ext cx="1005840" cy="594360"/>
          </a:xfrm>
          <a:prstGeom prst="rect">
            <a:avLst/>
          </a:prstGeom>
          <a:solidFill>
            <a:srgbClr val="02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249424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PLANIFICACIÓN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" y="2212848"/>
            <a:ext cx="2880360" cy="594360"/>
          </a:xfrm>
          <a:prstGeom prst="rect">
            <a:avLst/>
          </a:prstGeom>
          <a:solidFill>
            <a:srgbClr val="F5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49424"/>
            <a:ext cx="2743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4058"/>
                </a:solidFill>
              </a:rPr>
              <a:t>Elaborar plan de
transición con recursos,
plazos y responsables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16936"/>
            <a:ext cx="1005840" cy="594360"/>
          </a:xfrm>
          <a:prstGeom prst="rect">
            <a:avLst/>
          </a:prstGeom>
          <a:solidFill>
            <a:srgbClr val="028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953512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8448" y="2916936"/>
            <a:ext cx="2880360" cy="594360"/>
          </a:xfrm>
          <a:prstGeom prst="rect">
            <a:avLst/>
          </a:prstGeom>
          <a:solidFill>
            <a:srgbClr val="F5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53512"/>
            <a:ext cx="2743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4058"/>
                </a:solidFill>
              </a:rPr>
              <a:t>Actualizar procesos,
documentación y
gestión del cambio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21024"/>
            <a:ext cx="100584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657600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AUDITORÍA
INTERNA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98448" y="3621024"/>
            <a:ext cx="2880360" cy="594360"/>
          </a:xfrm>
          <a:prstGeom prst="rect">
            <a:avLst/>
          </a:prstGeom>
          <a:solidFill>
            <a:srgbClr val="F5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657600"/>
            <a:ext cx="2743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4058"/>
                </a:solidFill>
              </a:rPr>
              <a:t>Verificar cumplimiento
de los nuevos requisitos
de la norma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25112"/>
            <a:ext cx="10058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361688"/>
            <a:ext cx="10058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CERTIFICACIÓN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98448" y="4325112"/>
            <a:ext cx="2880360" cy="594360"/>
          </a:xfrm>
          <a:prstGeom prst="rect">
            <a:avLst/>
          </a:prstGeom>
          <a:solidFill>
            <a:srgbClr val="F5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361688"/>
            <a:ext cx="27432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4058"/>
                </a:solidFill>
              </a:rPr>
              <a:t>Auditoría de
certificación con
organismo acreditado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4058"/>
                </a:solidFill>
              </a:rPr>
              <a:t>Datos clave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1554480"/>
            <a:ext cx="2011680" cy="141732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554480"/>
            <a:ext cx="20116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16916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1,000,000+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22677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7F8"/>
                </a:solidFill>
              </a:rPr>
              <a:t>empresas certificadas
en el mundo (2023)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03720" y="1554480"/>
            <a:ext cx="2011680" cy="141732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03720" y="1554480"/>
            <a:ext cx="20116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16916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3 años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2677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7F8"/>
                </a:solidFill>
              </a:rPr>
              <a:t>período de transición
otorgado por IAF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3154680"/>
            <a:ext cx="2011680" cy="141732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54880" y="3154680"/>
            <a:ext cx="20116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291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8679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7F8"/>
                </a:solidFill>
              </a:rPr>
              <a:t>cláusulas en la
nueva estructura HLS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3154680"/>
            <a:ext cx="2011680" cy="141732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3154680"/>
            <a:ext cx="201168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329184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2C39A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86791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F7F8"/>
                </a:solidFill>
              </a:rPr>
              <a:t>referencias a
'acciones preventivas'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5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BENEFICIOS DE LA ACTUALIZACIÓN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4206240" cy="1051560"/>
          </a:xfrm>
          <a:prstGeom prst="rect">
            <a:avLst/>
          </a:prstGeom>
          <a:solidFill>
            <a:srgbClr val="03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🔗  Mayor alineación estratégica con los objetivos del negocio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143000"/>
            <a:ext cx="4206240" cy="1051560"/>
          </a:xfrm>
          <a:prstGeom prst="rect">
            <a:avLst/>
          </a:prstGeom>
          <a:solidFill>
            <a:srgbClr val="03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114300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8016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🌍  Integración facilitada con ISO 14001, ISO 45001 y otras normas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4206240" cy="1051560"/>
          </a:xfrm>
          <a:prstGeom prst="rect">
            <a:avLst/>
          </a:prstGeom>
          <a:solidFill>
            <a:srgbClr val="03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37744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1460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⚡  Gestión proactiva de riesgos y aprovechamiento de oportunidades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2377440"/>
            <a:ext cx="4206240" cy="1051560"/>
          </a:xfrm>
          <a:prstGeom prst="rect">
            <a:avLst/>
          </a:prstGeom>
          <a:solidFill>
            <a:srgbClr val="03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59" y="237744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51460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📈  Mejor rendimiento organizacional y satisfacción del cliente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11880"/>
            <a:ext cx="4206240" cy="1051560"/>
          </a:xfrm>
          <a:prstGeom prst="rect">
            <a:avLst/>
          </a:prstGeom>
          <a:solidFill>
            <a:srgbClr val="03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4904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💡  Flexibilidad en la documentación según necesidades reales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3611880"/>
            <a:ext cx="4206240" cy="1051560"/>
          </a:xfrm>
          <a:prstGeom prst="rect">
            <a:avLst/>
          </a:prstGeom>
          <a:solidFill>
            <a:srgbClr val="034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59" y="3611880"/>
            <a:ext cx="54864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74904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🤝  Mayor compromiso y liderazgo de la alta dirección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2C39A"/>
                </a:solidFill>
              </a:rPr>
              <a:t>"La ISO 9001:2015 no es solo una actualización técnica, es un cambio de mentalidad hacia la gestión estratégica de la calidad."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457200"/>
            <a:ext cx="4389120" cy="4389120"/>
          </a:xfrm>
          <a:prstGeom prst="ellipse">
            <a:avLst/>
          </a:prstGeom>
          <a:solidFill>
            <a:srgbClr val="025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38404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ISO 9001:2015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2C39A"/>
                </a:solidFill>
              </a:rPr>
              <a:t>Calidad con visión estratégica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7F8"/>
                </a:solidFill>
              </a:rPr>
              <a:t>La norma impulsa a las organizaciones a evolucionar desde
un enfoque de cumplimiento hacia una gestión de calidad
verdaderamente integrada con la estrategia corporativa.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